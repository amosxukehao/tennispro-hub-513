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E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TennisPro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DE5CF"/>
                </a:solidFill>
                <a:latin typeface="Calibri"/>
              </a:defRPr>
            </a:pPr>
            <a:r>
              <a:t>Full-Stack E-Commerce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E5CF"/>
                </a:solidFill>
                <a:latin typeface="Calibri"/>
              </a:defRPr>
            </a:pPr>
            <a:r>
              <a:t>ICTWEB 513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6B0"/>
                </a:solidFill>
                <a:latin typeface="Calibri"/>
              </a:defRPr>
            </a:pPr>
            <a:r>
              <a:t>Student: Amos  |  Assessor: Chuan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3B18A"/>
                </a:solidFill>
                <a:latin typeface="Calibri"/>
              </a:defRPr>
            </a:pPr>
            <a:r>
              <a:t>https://amos.fwh.is/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588157"/>
                </a:solidFill>
                <a:latin typeface="Calibri"/>
              </a:defRPr>
            </a:pPr>
            <a:r>
              <a:t>What is TennisPro Hub?</a:t>
            </a:r>
          </a:p>
          <a:p>
            <a:pPr>
              <a:spcAft>
                <a:spcPts val="400"/>
              </a:spcAft>
              <a:defRPr sz="1800" b="0">
                <a:solidFill>
                  <a:srgbClr val="263026"/>
                </a:solidFill>
                <a:latin typeface="Calibri"/>
              </a:defRPr>
            </a:pPr>
            <a:r>
              <a:t>An integrated e-commerce platform for tennis enthusiasts, offering coaching packages, equipment sales, and court reservation services.</a:t>
            </a:r>
          </a:p>
          <a:p>
            <a:pPr>
              <a:spcAft>
                <a:spcPts val="400"/>
              </a:spcAft>
              <a:defRPr sz="10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400" b="1">
                <a:solidFill>
                  <a:srgbClr val="588157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  <a:defRPr sz="1700" b="0">
                <a:solidFill>
                  <a:srgbClr val="263026"/>
                </a:solidFill>
                <a:latin typeface="Calibri"/>
              </a:defRPr>
            </a:pPr>
            <a:r>
              <a:t>• WordPress 6.x + Custom Child Theme (tennispro-capstone)</a:t>
            </a:r>
          </a:p>
          <a:p>
            <a:pPr>
              <a:spcAft>
                <a:spcPts val="400"/>
              </a:spcAft>
              <a:defRPr sz="1700" b="0">
                <a:solidFill>
                  <a:srgbClr val="263026"/>
                </a:solidFill>
                <a:latin typeface="Calibri"/>
              </a:defRPr>
            </a:pPr>
            <a:r>
              <a:t>• Parent Theme: Twenty Twenty-Four</a:t>
            </a:r>
          </a:p>
          <a:p>
            <a:pPr>
              <a:spcAft>
                <a:spcPts val="400"/>
              </a:spcAft>
              <a:defRPr sz="1700" b="0">
                <a:solidFill>
                  <a:srgbClr val="263026"/>
                </a:solidFill>
                <a:latin typeface="Calibri"/>
              </a:defRPr>
            </a:pPr>
            <a:r>
              <a:t>• Backend: PHP 8.x + MySQL 5.7</a:t>
            </a:r>
          </a:p>
          <a:p>
            <a:pPr>
              <a:spcAft>
                <a:spcPts val="400"/>
              </a:spcAft>
              <a:defRPr sz="1700" b="0">
                <a:solidFill>
                  <a:srgbClr val="263026"/>
                </a:solidFill>
                <a:latin typeface="Calibri"/>
              </a:defRPr>
            </a:pPr>
            <a:r>
              <a:t>• Frontend: Custom CSS (793 lines) + Vanilla JavaScript</a:t>
            </a:r>
          </a:p>
          <a:p>
            <a:pPr>
              <a:spcAft>
                <a:spcPts val="400"/>
              </a:spcAft>
              <a:defRPr sz="1700" b="0">
                <a:solidFill>
                  <a:srgbClr val="263026"/>
                </a:solidFill>
                <a:latin typeface="Calibri"/>
              </a:defRPr>
            </a:pPr>
            <a:r>
              <a:t>• Hosting: InfinityFree (Apache, Linux)</a:t>
            </a:r>
          </a:p>
          <a:p>
            <a:pPr>
              <a:spcAft>
                <a:spcPts val="400"/>
              </a:spcAft>
              <a:defRPr sz="1700" b="0">
                <a:solidFill>
                  <a:srgbClr val="263026"/>
                </a:solidFill>
                <a:latin typeface="Calibri"/>
              </a:defRPr>
            </a:pPr>
            <a:r>
              <a:t>• Email: WP Mail SMTP</a:t>
            </a:r>
          </a:p>
          <a:p>
            <a:pPr>
              <a:spcAft>
                <a:spcPts val="400"/>
              </a:spcAft>
              <a:defRPr sz="1700" b="0">
                <a:solidFill>
                  <a:srgbClr val="263026"/>
                </a:solidFill>
                <a:latin typeface="Calibri"/>
              </a:defRPr>
            </a:pPr>
            <a:r>
              <a:t>• CRM: FluentCRM + Fluent Forms</a:t>
            </a:r>
          </a:p>
          <a:p>
            <a:pPr>
              <a:spcAft>
                <a:spcPts val="400"/>
              </a:spcAft>
              <a:defRPr sz="10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588157"/>
                </a:solidFill>
                <a:latin typeface="Calibri"/>
              </a:defRPr>
            </a:pPr>
            <a:r>
              <a:t>Live URL: https://amos.fwh.is/</a:t>
            </a:r>
          </a:p>
          <a:p>
            <a:pPr>
              <a:spcAft>
                <a:spcPts val="400"/>
              </a:spcAft>
              <a:defRPr sz="1700" b="1">
                <a:solidFill>
                  <a:srgbClr val="588157"/>
                </a:solidFill>
                <a:latin typeface="Calibri"/>
              </a:defRPr>
            </a:pPr>
            <a:r>
              <a:t>API: https://amos.fwh.is/wp-json/custom/v1/products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Website Structure &amp; Navigation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Banner + slogan</a:t>
            </a:r>
            <a:br/>
            <a:r>
              <a:t>CTA buttons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20 products grid</a:t>
            </a:r>
            <a:br/>
            <a:r>
              <a:t>AJAX cart</a:t>
            </a:r>
            <a:br/>
            <a:r>
              <a:t>Detail modal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Quantity +/-</a:t>
            </a:r>
            <a:br/>
            <a:r>
              <a:t>Order summary</a:t>
            </a:r>
            <a:br/>
            <a:r>
              <a:t>AJAX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FluentCRM validation</a:t>
            </a:r>
            <a:br/>
            <a:r>
              <a:t>Payment method</a:t>
            </a:r>
            <a:br/>
            <a:r>
              <a:t>Order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Form → DB</a:t>
            </a:r>
            <a:br/>
            <a:r>
              <a:t>+ Email confirm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93192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20+ posts</a:t>
            </a:r>
            <a:br/>
            <a:r>
              <a:t>Create 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Recruitment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Job form</a:t>
            </a:r>
            <a:br/>
            <a:r>
              <a:t>CV upload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931920"/>
            <a:ext cx="265176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6-tab interface</a:t>
            </a:r>
            <a:br/>
            <a:r>
              <a:t>Full CRUD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Features — Products &amp; Shopping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Product Management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20 products stored in products.json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REST API: GET /wp-json/custom/v1/products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Admin CRUD (Create, Read, Update, Delete)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Server-side validation + nonce protection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Product detail modal with metadata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Shopping Cart (AJAX)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Add to cart without page reload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Quantity +/- controls (instant update)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Clear cart functionality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Toast notifications for feedback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Two-column layout (items +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Checkout Flow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Email + Phone validated against FluentCRM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Shipping &amp; billing address collection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Payment method selection (Credit/Debit/PayPal)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Order notes textarea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Order saved to wp_orders + wp_order_items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User Registration (9 Fields)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First Name, Last Name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Email, Phone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Address, Country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Date of Birth, Gender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Preferred Level (Beginner/Intermediate/Advanced)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Data saved to FluentCRM (30+ subscribers)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Features — Support, Forum, Recruitment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Customer Support</a:t>
            </a:r>
          </a:p>
          <a:p>
            <a:pPr>
              <a:spcAft>
                <a:spcPts val="400"/>
              </a:spcAft>
              <a:defRPr sz="6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Form: Name, Email,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Subject, Message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Saves to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wp_support_tickets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Sends confirmation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email via wp_mail()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Input sanitization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Email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28016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Discussion Forum</a:t>
            </a:r>
          </a:p>
          <a:p>
            <a:pPr>
              <a:spcAft>
                <a:spcPts val="400"/>
              </a:spcAft>
              <a:defRPr sz="6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Custom PHP/MySQL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(no plugin)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Create new topics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Reply to existing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20+ sample posts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Guest &amp; logged-in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user posting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Reverse chronological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Recruitment</a:t>
            </a:r>
          </a:p>
          <a:p>
            <a:pPr>
              <a:spcAft>
                <a:spcPts val="400"/>
              </a:spcAft>
              <a:defRPr sz="6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Full Name, Email, Phone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Position (dropdown)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Cover Letter (textarea)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CV Upload (.pdf/.doc/.docx)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MIME + extension check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Sanitised filenames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Saves to wp_job_applications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cv_uploads/ protected with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.htaccess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Revenue, orders, customers,</a:t>
            </a:r>
            <a:br/>
            <a:r>
              <a:t>avg order value, tickets,</a:t>
            </a:r>
            <a:br/>
            <a:r>
              <a:t>applications, subscribers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38328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9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Products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Inline Create/Read/</a:t>
            </a:r>
            <a:br/>
            <a:r>
              <a:t>Update/Delete on</a:t>
            </a:r>
            <a:br/>
            <a:r>
              <a:t>products.json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38328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Recruitment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View all applications</a:t>
            </a:r>
            <a:br/>
            <a:r>
              <a:t>Cover letter, CV download</a:t>
            </a:r>
            <a:br/>
            <a:r>
              <a:t>Inline status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All support tickets</a:t>
            </a:r>
            <a:br/>
            <a:r>
              <a:t>Inline status update</a:t>
            </a:r>
            <a:br/>
            <a:r>
              <a:t>(open → resolved → closed)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931920"/>
            <a:ext cx="338328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All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617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FluentCRM subscribers</a:t>
            </a:r>
            <a:br/>
            <a:r>
              <a:t>Name, email, phone,</a:t>
            </a:r>
            <a:br/>
            <a:r>
              <a:t>status, registered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383280" cy="219456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4E41"/>
                </a:solidFill>
                <a:latin typeface="Calibri"/>
              </a:defRPr>
            </a:pPr>
            <a:r>
              <a:t>All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17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026"/>
                </a:solidFill>
                <a:latin typeface="Calibri"/>
              </a:defRPr>
            </a:pPr>
            <a:r>
              <a:t>Complete order history</a:t>
            </a:r>
            <a:br/>
            <a:r>
              <a:t>Customer, contact, total,</a:t>
            </a:r>
            <a:br/>
            <a:r>
              <a:t>item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Database Schema (7 Tables)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2697480" cy="237744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4E41"/>
                </a:solidFill>
                <a:latin typeface="Calibri"/>
              </a:defRPr>
            </a:pPr>
            <a:r>
              <a:t>wp_fc_subscribers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026"/>
                </a:solidFill>
                <a:latin typeface="Calibri"/>
              </a:defRPr>
            </a:pPr>
            <a:r>
              <a:t>id, first_name, last_name,</a:t>
            </a:r>
            <a:br/>
            <a:r>
              <a:t>email, phone, status,</a:t>
            </a:r>
            <a:br/>
            <a:r>
              <a:t>created_at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697480" cy="237744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4E41"/>
                </a:solidFill>
                <a:latin typeface="Calibri"/>
              </a:defRPr>
            </a:pPr>
            <a:r>
              <a:t>wp_orders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026"/>
                </a:solidFill>
                <a:latin typeface="Calibri"/>
              </a:defRPr>
            </a:pPr>
            <a:r>
              <a:t>id, user_name,</a:t>
            </a:r>
            <a:br/>
            <a:r>
              <a:t>total_amount, contact_name,</a:t>
            </a:r>
            <a:br/>
            <a:r>
              <a:t>contact_phone,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697480" cy="237744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4E41"/>
                </a:solidFill>
                <a:latin typeface="Calibri"/>
              </a:defRPr>
            </a:pPr>
            <a:r>
              <a:t>wp_order_items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026"/>
                </a:solidFill>
                <a:latin typeface="Calibri"/>
              </a:defRPr>
            </a:pPr>
            <a:r>
              <a:t>id, order_id (FK),</a:t>
            </a:r>
            <a:br/>
            <a:r>
              <a:t>product_id, quantity,</a:t>
            </a:r>
            <a:br/>
            <a:r>
              <a:t>unit_price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280160"/>
            <a:ext cx="2697480" cy="237744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3716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4E41"/>
                </a:solidFill>
                <a:latin typeface="Calibri"/>
              </a:defRPr>
            </a:pPr>
            <a:r>
              <a:t>wp_support_tickets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026"/>
                </a:solidFill>
                <a:latin typeface="Calibri"/>
              </a:defRPr>
            </a:pPr>
            <a:r>
              <a:t>ticket_id, customer_name,</a:t>
            </a:r>
            <a:br/>
            <a:r>
              <a:t>customer_email, subject,</a:t>
            </a:r>
            <a:br/>
            <a:r>
              <a:t>message, submitted_at,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2697480" cy="237744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4E41"/>
                </a:solidFill>
                <a:latin typeface="Calibri"/>
              </a:defRPr>
            </a:pPr>
            <a:r>
              <a:t>wp_job_applications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026"/>
                </a:solidFill>
                <a:latin typeface="Calibri"/>
              </a:defRPr>
            </a:pPr>
            <a:r>
              <a:t>application_id, full_name,</a:t>
            </a:r>
            <a:br/>
            <a:r>
              <a:t>email, phone, position,</a:t>
            </a:r>
            <a:br/>
            <a:r>
              <a:t>cover_letter, cv_file_path,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023360"/>
            <a:ext cx="2697480" cy="237744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114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4E41"/>
                </a:solidFill>
                <a:latin typeface="Calibri"/>
              </a:defRPr>
            </a:pPr>
            <a:r>
              <a:t>wp_forum_posts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7200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026"/>
                </a:solidFill>
                <a:latin typeface="Calibri"/>
              </a:defRPr>
            </a:pPr>
            <a:r>
              <a:t>id, title, content,</a:t>
            </a:r>
            <a:br/>
            <a:r>
              <a:t>author, created_at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2697480" cy="2377440"/>
          </a:xfrm>
          <a:prstGeom prst="roundRect">
            <a:avLst/>
          </a:prstGeom>
          <a:solidFill>
            <a:srgbClr val="DDE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4E41"/>
                </a:solidFill>
                <a:latin typeface="Calibri"/>
              </a:defRPr>
            </a:pPr>
            <a:r>
              <a:t>wp_customer_cards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7200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3026"/>
                </a:solidFill>
                <a:latin typeface="Calibri"/>
              </a:defRPr>
            </a:pPr>
            <a:r>
              <a:t>id, customer_email,</a:t>
            </a:r>
            <a:br/>
            <a:r>
              <a:t>holder_name, card_brand,</a:t>
            </a:r>
            <a:br/>
            <a:r>
              <a:t>card_last4, created_at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67"/>
                </a:solidFill>
                <a:latin typeface="Calibri"/>
              </a:defRPr>
            </a:pPr>
            <a:r>
              <a:t>Also: products.json (JSON file, not DB table) — id, name, description, price, image_path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588157"/>
                </a:solidFill>
                <a:latin typeface="Calibri"/>
              </a:defRPr>
            </a:pPr>
            <a:r>
              <a:t>Input Sanitization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sanitize_text_field()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sanitize_email()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sanitize_textarea_field()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esc_html(), esc_attr(), esc_url()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588157"/>
                </a:solidFill>
                <a:latin typeface="Calibri"/>
              </a:defRPr>
            </a:pPr>
            <a:r>
              <a:t>SQL Injection Prevention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$wpdb-&gt;insert() with format specifiers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$wpdb-&gt;prepare() for parameterised queries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588157"/>
                </a:solidFill>
                <a:latin typeface="Calibri"/>
              </a:defRPr>
            </a:pPr>
            <a:r>
              <a:t>CSRF Protection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wp_nonce_field() on all POST forms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wp_verify_nonce() / check_admin_referer()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588157"/>
                </a:solidFill>
                <a:latin typeface="Calibri"/>
              </a:defRPr>
            </a:pPr>
            <a:r>
              <a:t>Access Control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Session-based admin authentication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Admin login auto-logouts customer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current_user_can("manage_options")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588157"/>
                </a:solidFill>
                <a:latin typeface="Calibri"/>
              </a:defRPr>
            </a:pPr>
            <a:r>
              <a:t>File Upload Security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Extension check (.pdf/.doc/.docx only)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MIME type verification (finfo_file)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Sanitised filenames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.htaccess: php_flag engine off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588157"/>
                </a:solidFill>
                <a:latin typeface="Calibri"/>
              </a:defRPr>
            </a:pPr>
            <a:r>
              <a:t>XSS Prevention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All output escaped before rendering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esc_html() on all user-supplied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Design Principles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Consistency: Unified header, footer, colours,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typography, and button styles across all pages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Responsive: CSS Grid + Flexbox adapt to all sizes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Feedback: Hover effects, toast notifications,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inline validation errors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Progressive Disclosure: Modals for details,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tabs for admin dashboard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Colour Palette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Dark Green: #344e41 (header, primary)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Medium Green: #588157 (buttons, accents)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Light Green: #dde5cf (cards, secondary buttons)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Background: #f0f3ee radial gradient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Content: #fcfdfb white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Key UI Components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Product cards with hover lift + shadow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Pill-shaped quantity +/- controls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Fixed-position product detail modal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Two-column cart &amp; checkout layouts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Auth dropdown (hover-activated)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Admin dashboard with 6 tabbed panels</a:t>
            </a:r>
          </a:p>
          <a:p>
            <a:pPr>
              <a:spcAft>
                <a:spcPts val="400"/>
              </a:spcAft>
              <a:defRPr sz="800" b="0">
                <a:solidFill>
                  <a:srgbClr val="26302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588157"/>
                </a:solidFill>
                <a:latin typeface="Calibri"/>
              </a:defRPr>
            </a:pPr>
            <a:r>
              <a:t>Responsive Breakpoints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Desktop: Multi-column grids (4-col products)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• Mobile (≤768px): Single column,</a:t>
            </a:r>
          </a:p>
          <a:p>
            <a:pPr>
              <a:spcAft>
                <a:spcPts val="400"/>
              </a:spcAft>
              <a:defRPr sz="1600" b="0">
                <a:solidFill>
                  <a:srgbClr val="263026"/>
                </a:solidFill>
                <a:latin typeface="Calibri"/>
              </a:defRPr>
            </a:pPr>
            <a:r>
              <a:t>  stacked layouts, wrapped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E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DDE5CF"/>
                </a:solidFill>
                <a:latin typeface="Calibri"/>
              </a:defRPr>
            </a:pPr>
            <a:r>
              <a:t>Live Website</a:t>
            </a:r>
          </a:p>
          <a:p>
            <a:pPr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https://amos.fwh.is/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400" b="1">
                <a:solidFill>
                  <a:srgbClr val="DDE5CF"/>
                </a:solidFill>
                <a:latin typeface="Calibri"/>
              </a:defRPr>
            </a:pPr>
            <a:r>
              <a:t>REST API Endpoint</a:t>
            </a:r>
          </a:p>
          <a:p>
            <a:pPr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https://amos.fwh.is/wp-json/custom/v1/products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400" b="1">
                <a:solidFill>
                  <a:srgbClr val="DDE5CF"/>
                </a:solidFill>
                <a:latin typeface="Calibri"/>
              </a:defRPr>
            </a:pPr>
            <a:r>
              <a:t>Admin Login</a:t>
            </a:r>
          </a:p>
          <a:p>
            <a:pPr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URL: https://amos.fwh.is/admin-login/</a:t>
            </a:r>
          </a:p>
          <a:p>
            <a:pPr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Username: admin  |  Password: admin123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400" b="1">
                <a:solidFill>
                  <a:srgbClr val="DDE5CF"/>
                </a:solidFill>
                <a:latin typeface="Calibri"/>
              </a:defRPr>
            </a:pPr>
            <a:r>
              <a:t>Key Achievements</a:t>
            </a:r>
          </a:p>
          <a:p>
            <a:pPr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20 Products  •  30+ Customers  •  20+ Forum Posts</a:t>
            </a:r>
          </a:p>
          <a:p>
            <a:pPr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7 Database Tables  •  REST API  •  AJAX Cart  •  Email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